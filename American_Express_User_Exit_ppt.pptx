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19"/>
  </p:notesMasterIdLst>
  <p:handoutMasterIdLst>
    <p:handoutMasterId r:id="rId20"/>
  </p:handoutMasterIdLst>
  <p:sldIdLst>
    <p:sldId id="289" r:id="rId5"/>
    <p:sldId id="288" r:id="rId6"/>
    <p:sldId id="276" r:id="rId7"/>
    <p:sldId id="283" r:id="rId8"/>
    <p:sldId id="293" r:id="rId9"/>
    <p:sldId id="261" r:id="rId10"/>
    <p:sldId id="294" r:id="rId11"/>
    <p:sldId id="264" r:id="rId12"/>
    <p:sldId id="290" r:id="rId13"/>
    <p:sldId id="291" r:id="rId14"/>
    <p:sldId id="268" r:id="rId15"/>
    <p:sldId id="292" r:id="rId16"/>
    <p:sldId id="295" r:id="rId17"/>
    <p:sldId id="26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96" autoAdjust="0"/>
    <p:restoredTop sz="94694" autoAdjust="0"/>
  </p:normalViewPr>
  <p:slideViewPr>
    <p:cSldViewPr snapToGrid="0">
      <p:cViewPr varScale="1">
        <p:scale>
          <a:sx n="99" d="100"/>
          <a:sy n="99" d="100"/>
        </p:scale>
        <p:origin x="92" y="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3/9/2025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3/9/2025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2</a:t>
            </a:fld>
            <a:endParaRPr lang="en-US"/>
          </a:p>
        </p:txBody>
      </p:sp>
    </p:spTree>
    <p:extLst>
      <p:ext uri="{BB962C8B-B14F-4D97-AF65-F5344CB8AC3E}">
        <p14:creationId xmlns:p14="http://schemas.microsoft.com/office/powerpoint/2010/main" val="3727634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3</a:t>
            </a:fld>
            <a:endParaRPr lang="en-US"/>
          </a:p>
        </p:txBody>
      </p:sp>
    </p:spTree>
    <p:extLst>
      <p:ext uri="{BB962C8B-B14F-4D97-AF65-F5344CB8AC3E}">
        <p14:creationId xmlns:p14="http://schemas.microsoft.com/office/powerpoint/2010/main" val="1233045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4</a:t>
            </a:fld>
            <a:endParaRPr lang="en-US"/>
          </a:p>
        </p:txBody>
      </p:sp>
    </p:spTree>
    <p:extLst>
      <p:ext uri="{BB962C8B-B14F-4D97-AF65-F5344CB8AC3E}">
        <p14:creationId xmlns:p14="http://schemas.microsoft.com/office/powerpoint/2010/main" val="465852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a:p>
        </p:txBody>
      </p:sp>
    </p:spTree>
    <p:extLst>
      <p:ext uri="{BB962C8B-B14F-4D97-AF65-F5344CB8AC3E}">
        <p14:creationId xmlns:p14="http://schemas.microsoft.com/office/powerpoint/2010/main" val="3988440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8</a:t>
            </a:fld>
            <a:endParaRPr lang="en-US"/>
          </a:p>
        </p:txBody>
      </p:sp>
    </p:spTree>
    <p:extLst>
      <p:ext uri="{BB962C8B-B14F-4D97-AF65-F5344CB8AC3E}">
        <p14:creationId xmlns:p14="http://schemas.microsoft.com/office/powerpoint/2010/main" val="1495799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11</a:t>
            </a:fld>
            <a:endParaRPr lang="en-US"/>
          </a:p>
        </p:txBody>
      </p:sp>
    </p:spTree>
    <p:extLst>
      <p:ext uri="{BB962C8B-B14F-4D97-AF65-F5344CB8AC3E}">
        <p14:creationId xmlns:p14="http://schemas.microsoft.com/office/powerpoint/2010/main" val="2777110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14</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41156573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6789580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3563889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0812158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7720862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4982642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76283120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19983928"/>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79663486"/>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6189588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722143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100724014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2500566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pictur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anchor="b">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7620" y="4766434"/>
            <a:ext cx="12207240" cy="2121408"/>
          </a:xfrm>
        </p:spPr>
        <p:txBody>
          <a:bodyPr>
            <a:no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405652856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3CF0EA4-D201-44E7-3558-D05CB4233ECE}"/>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643EA3-ACAA-539C-A041-266A895A2B1C}"/>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81E18B-2347-8DB6-2A7F-3EAC100A412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215072" y="528320"/>
            <a:ext cx="5028566" cy="3354992"/>
          </a:xfrm>
        </p:spPr>
        <p:txBody>
          <a:bodyPr anchor="b">
            <a:noAutofit/>
          </a:bodyPr>
          <a:lstStyle>
            <a:lvl1pPr algn="l">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215072" y="4027992"/>
            <a:ext cx="5028565" cy="1894972"/>
          </a:xfrm>
        </p:spPr>
        <p:txBody>
          <a:bodyPr>
            <a:noAutofit/>
          </a:bodyPr>
          <a:lstStyle>
            <a:lvl1pPr marL="0" indent="0" algn="l">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a:moveTo>
                  <a:pt x="0" y="0"/>
                </a:moveTo>
                <a:lnTo>
                  <a:pt x="4977139" y="0"/>
                </a:lnTo>
                <a:lnTo>
                  <a:pt x="4977139" y="6892724"/>
                </a:lnTo>
                <a:lnTo>
                  <a:pt x="1863524" y="6892724"/>
                </a:lnTo>
                <a:lnTo>
                  <a:pt x="0"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26093785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2374036"/>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9E49FCE-658C-FF5A-6405-3D10F1AC1B06}"/>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3C516-D418-5E3E-1E4E-1DF8464338F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BF5B15-0E8A-A82C-6E9C-FCF3FBAAD468}"/>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4B33CA-9490-C8E1-FE4F-06367AF2921F}"/>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86824F-3198-FE44-5A4A-70312048DAF9}"/>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58CD71-6E97-B6A9-11B6-867ED408DEE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9FDAA6-BDE8-D6C3-17CD-F87BFB54F54A}"/>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42A0738D-E9A9-14B7-4739-62E402B0C2DF}"/>
              </a:ext>
            </a:extLst>
          </p:cNvPr>
          <p:cNvSpPr>
            <a:spLocks noGrp="1"/>
          </p:cNvSpPr>
          <p:nvPr>
            <p:ph sz="half" idx="14" hasCustomPrompt="1"/>
          </p:nvPr>
        </p:nvSpPr>
        <p:spPr>
          <a:xfrm>
            <a:off x="834961" y="2032663"/>
            <a:ext cx="4463005"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A766D4CB-8BCE-C6EE-EF57-A8A819EBD366}"/>
              </a:ext>
            </a:extLst>
          </p:cNvPr>
          <p:cNvSpPr>
            <a:spLocks noGrp="1"/>
          </p:cNvSpPr>
          <p:nvPr>
            <p:ph sz="half" idx="13" hasCustomPrompt="1"/>
          </p:nvPr>
        </p:nvSpPr>
        <p:spPr>
          <a:xfrm>
            <a:off x="6141720" y="2032663"/>
            <a:ext cx="5212080"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86675664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anchor="b" anchorCtr="0">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7566991" y="-22860"/>
            <a:ext cx="4625008" cy="6903720"/>
          </a:xfrm>
        </p:spPr>
        <p:txBody>
          <a:bodyPr tIns="274320">
            <a:normAutofit/>
          </a:bodyPr>
          <a:lstStyle>
            <a:lvl1pPr marL="0" indent="0" algn="ctr">
              <a:buNone/>
              <a:defRPr sz="2000"/>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65686807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2539629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C45A11E-9896-BD8B-8CC6-A79C124D89BC}"/>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386022B-53D6-6CE0-2093-873FC64A5D34}"/>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BD4BD8F-684C-A145-3376-9E69B0E5BEE5}"/>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E7C1DA9-2A25-EE21-085B-8857DC1AD722}"/>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F236BB3-E567-A8A9-5EC2-BCEF79CFCF06}"/>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4A87C9F-C765-C63C-951E-70721DDACDC3}"/>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4425665-0C9C-3899-9DB9-ED05D91E26E6}"/>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125"/>
            <a:ext cx="10330405" cy="1325563"/>
          </a:xfrm>
        </p:spPr>
        <p:txBody>
          <a:bodyPr anchor="b" anchorCtr="0">
            <a:noAutofit/>
          </a:bodyPr>
          <a:lstStyle>
            <a:lvl1pP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137059"/>
            <a:ext cx="2816352" cy="3986246"/>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109014" y="2137059"/>
            <a:ext cx="7059592" cy="3986245"/>
          </a:xfrm>
        </p:spPr>
        <p:txBody>
          <a:bodyPr>
            <a:normAutofit/>
          </a:bodyPr>
          <a:lstStyle>
            <a:lvl1pPr marL="0" indent="0" algn="ctr">
              <a:buNone/>
              <a:defRPr lang="en-US" sz="2000" dirty="0"/>
            </a:lvl1p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3/9/2025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61036493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3/9/2025</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55606510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5" r:id="rId17"/>
    <p:sldLayoutId id="2147483687" r:id="rId18"/>
    <p:sldLayoutId id="2147483691" r:id="rId19"/>
    <p:sldLayoutId id="2147483692" r:id="rId20"/>
  </p:sldLayoutIdLst>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https://www.pexels.com/photo/ai-artificial-intelligence-machine-learning-616020/"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hyperlink" Target="https://creativecommons.org/licenses/by-sa/3.0/" TargetMode="External"/><Relationship Id="rId4" Type="http://schemas.openxmlformats.org/officeDocument/2006/relationships/hyperlink" Target="https://iabac.org/blog/machine-learning-applications-and-example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hyperlink" Target="https://www.weetechsolution.com/blog/artificial-intelligence-and-machine-learnin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hyperlink" Target="https://www.dreamstime.com/business-people-working-artificial-intelligence-ai-futuristic-machine-learning-technology-innovation-concept-image277534430"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hyperlink" Target="https://www.churchofpresentation.org/abstract-blur-blue-bokeh-banner-backgroun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EC93CF-2672-7D78-F278-58C5E012E0DF}"/>
              </a:ext>
            </a:extLst>
          </p:cNvPr>
          <p:cNvSpPr>
            <a:spLocks noGrp="1"/>
          </p:cNvSpPr>
          <p:nvPr>
            <p:ph type="ctrTitle"/>
          </p:nvPr>
        </p:nvSpPr>
        <p:spPr/>
        <p:txBody>
          <a:bodyPr/>
          <a:lstStyle/>
          <a:p>
            <a:r>
              <a:rPr lang="en-US" dirty="0"/>
              <a:t>Major project</a:t>
            </a:r>
            <a:br>
              <a:rPr lang="en-US" dirty="0"/>
            </a:br>
            <a:r>
              <a:rPr lang="en-US" dirty="0"/>
              <a:t> </a:t>
            </a:r>
            <a:r>
              <a:rPr lang="en-US" sz="2000" b="1" cap="none" dirty="0">
                <a:solidFill>
                  <a:schemeClr val="accent5"/>
                </a:solidFill>
              </a:rPr>
              <a:t>Name</a:t>
            </a:r>
            <a:r>
              <a:rPr lang="en-US" sz="2000" cap="none" dirty="0"/>
              <a:t>: Chawhan Bhoomika</a:t>
            </a:r>
            <a:br>
              <a:rPr lang="en-US" sz="2000" cap="none" dirty="0"/>
            </a:br>
            <a:r>
              <a:rPr lang="en-US" sz="2000" cap="none" dirty="0"/>
              <a:t>  </a:t>
            </a:r>
            <a:r>
              <a:rPr lang="en-US" sz="2000" b="1" cap="none" dirty="0">
                <a:solidFill>
                  <a:schemeClr val="accent5"/>
                </a:solidFill>
              </a:rPr>
              <a:t>College</a:t>
            </a:r>
            <a:r>
              <a:rPr lang="en-US" sz="2000" cap="none" dirty="0"/>
              <a:t>: Saanvi degree college for women</a:t>
            </a:r>
            <a:br>
              <a:rPr lang="en-US" sz="2000" cap="none" dirty="0"/>
            </a:br>
            <a:r>
              <a:rPr lang="en-US" sz="2000" cap="none" dirty="0"/>
              <a:t>  </a:t>
            </a:r>
            <a:r>
              <a:rPr lang="en-US" sz="2000" b="1" cap="none" dirty="0">
                <a:solidFill>
                  <a:schemeClr val="accent5"/>
                </a:solidFill>
              </a:rPr>
              <a:t>Course</a:t>
            </a:r>
            <a:r>
              <a:rPr lang="en-US" sz="2000" cap="none" dirty="0"/>
              <a:t>: BCA</a:t>
            </a:r>
            <a:br>
              <a:rPr lang="en-US" sz="2000" cap="none" dirty="0"/>
            </a:br>
            <a:r>
              <a:rPr lang="en-US" sz="2000" cap="none" dirty="0"/>
              <a:t>  </a:t>
            </a:r>
            <a:r>
              <a:rPr lang="en-US" sz="2000" b="1" cap="none" dirty="0">
                <a:solidFill>
                  <a:schemeClr val="accent5"/>
                </a:solidFill>
              </a:rPr>
              <a:t>Roll</a:t>
            </a:r>
            <a:r>
              <a:rPr lang="en-US" sz="2000" cap="none" dirty="0"/>
              <a:t> no: 2096 2286 1012</a:t>
            </a:r>
            <a:endParaRPr lang="en-US" sz="2000" dirty="0"/>
          </a:p>
        </p:txBody>
      </p:sp>
      <p:pic>
        <p:nvPicPr>
          <p:cNvPr id="7" name="Picture Placeholder 6">
            <a:extLst>
              <a:ext uri="{FF2B5EF4-FFF2-40B4-BE49-F238E27FC236}">
                <a16:creationId xmlns:a16="http://schemas.microsoft.com/office/drawing/2014/main" id="{ED21B7CD-3D69-26B5-8A0B-52A19A6B0A2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8193" r="18193"/>
          <a:stretch/>
        </p:blipFill>
        <p:spPr/>
      </p:pic>
    </p:spTree>
    <p:extLst>
      <p:ext uri="{BB962C8B-B14F-4D97-AF65-F5344CB8AC3E}">
        <p14:creationId xmlns:p14="http://schemas.microsoft.com/office/powerpoint/2010/main" val="307899438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noFill/>
        </p:spPr>
        <p:txBody>
          <a:bodyPr>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3757354" y="972152"/>
            <a:ext cx="5444835" cy="5154327"/>
          </a:xfrm>
          <a:noFill/>
        </p:spPr>
        <p:txBody>
          <a:bodyPr anchor="ctr">
            <a:noAutofit/>
          </a:bodyPr>
          <a:lstStyle/>
          <a:p>
            <a:pPr algn="ctr"/>
            <a:r>
              <a:rPr lang="en-US" sz="4300" b="1" dirty="0">
                <a:solidFill>
                  <a:schemeClr val="accent3"/>
                </a:solidFill>
                <a:latin typeface="+mj-lt"/>
                <a:ea typeface="Calibri" panose="020F0502020204030204" pitchFamily="34" charset="0"/>
                <a:cs typeface="Calibri" panose="020F0502020204030204" pitchFamily="34" charset="0"/>
              </a:rPr>
              <a:t>American express user exit</a:t>
            </a:r>
          </a:p>
          <a:p>
            <a:pPr marL="342900" indent="-342900">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Introduction</a:t>
            </a:r>
          </a:p>
          <a:p>
            <a:pPr marL="342900" indent="-342900">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Business problems</a:t>
            </a:r>
          </a:p>
          <a:p>
            <a:pPr marL="342900" indent="-342900">
              <a:buFont typeface="+mj-lt"/>
              <a:buAutoNum type="arabicPeriod"/>
            </a:pPr>
            <a:r>
              <a:rPr lang="en-IN" sz="1800" b="1" dirty="0">
                <a:effectLst/>
                <a:latin typeface="Calibri" panose="020F0502020204030204" pitchFamily="34" charset="0"/>
                <a:ea typeface="Calibri" panose="020F0502020204030204" pitchFamily="34" charset="0"/>
                <a:cs typeface="Times New Roman" panose="02020603050405020304" pitchFamily="18" charset="0"/>
              </a:rPr>
              <a:t>Dataset Description:</a:t>
            </a:r>
            <a:endParaRPr lang="en-IN" b="1"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Methodology: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Expected Outcome: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Code implementation</a:t>
            </a:r>
          </a:p>
          <a:p>
            <a:pPr marL="342900" indent="-342900">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conclusion</a:t>
            </a:r>
          </a:p>
        </p:txBody>
      </p:sp>
      <p:pic>
        <p:nvPicPr>
          <p:cNvPr id="25" name="Picture Placeholder 6">
            <a:extLst>
              <a:ext uri="{FF2B5EF4-FFF2-40B4-BE49-F238E27FC236}">
                <a16:creationId xmlns:a16="http://schemas.microsoft.com/office/drawing/2014/main" id="{086C9520-C924-5732-CC82-F0C4A533D4E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p:blipFill>
        <p:spPr>
          <a:xfrm>
            <a:off x="9376756" y="1"/>
            <a:ext cx="2815244" cy="6858000"/>
          </a:xfrm>
          <a:prstGeom prst="rect">
            <a:avLst/>
          </a:prstGeom>
          <a:ln>
            <a:noFill/>
          </a:ln>
          <a:effectLst>
            <a:softEdge rad="112500"/>
          </a:effectLst>
        </p:spPr>
      </p:pic>
      <p:sp>
        <p:nvSpPr>
          <p:cNvPr id="4" name="TextBox 3">
            <a:extLst>
              <a:ext uri="{FF2B5EF4-FFF2-40B4-BE49-F238E27FC236}">
                <a16:creationId xmlns:a16="http://schemas.microsoft.com/office/drawing/2014/main" id="{3144F648-6A23-77BE-02AF-97E726630583}"/>
              </a:ext>
            </a:extLst>
          </p:cNvPr>
          <p:cNvSpPr txBox="1"/>
          <p:nvPr/>
        </p:nvSpPr>
        <p:spPr>
          <a:xfrm>
            <a:off x="9548813" y="6880860"/>
            <a:ext cx="2651760" cy="230832"/>
          </a:xfrm>
          <a:prstGeom prst="rect">
            <a:avLst/>
          </a:prstGeom>
          <a:noFill/>
        </p:spPr>
        <p:txBody>
          <a:bodyPr wrap="square" rtlCol="0">
            <a:spAutoFit/>
          </a:bodyPr>
          <a:lstStyle/>
          <a:p>
            <a:r>
              <a:rPr lang="en-IN" sz="900">
                <a:hlinkClick r:id="rId4" tooltip="https://iabac.org/blog/machine-learning-applications-and-examples"/>
              </a:rPr>
              <a:t>This Photo</a:t>
            </a:r>
            <a:r>
              <a:rPr lang="en-IN" sz="900"/>
              <a:t> by Unknown Author is licensed under </a:t>
            </a:r>
            <a:r>
              <a:rPr lang="en-IN" sz="900">
                <a:hlinkClick r:id="rId5" tooltip="https://creativecommons.org/licenses/by-sa/3.0/"/>
              </a:rPr>
              <a:t>CC BY-SA</a:t>
            </a:r>
            <a:endParaRPr lang="en-IN" sz="900"/>
          </a:p>
        </p:txBody>
      </p:sp>
    </p:spTree>
    <p:extLst>
      <p:ext uri="{BB962C8B-B14F-4D97-AF65-F5344CB8AC3E}">
        <p14:creationId xmlns:p14="http://schemas.microsoft.com/office/powerpoint/2010/main" val="103835118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1458190" y="-768927"/>
            <a:ext cx="9275619" cy="4197927"/>
          </a:xfrm>
          <a:noFill/>
        </p:spPr>
        <p:txBody>
          <a:bodyPr anchor="b"/>
          <a:lstStyle/>
          <a:p>
            <a:r>
              <a:rPr lang="en-US" dirty="0"/>
              <a:t>Introduction </a:t>
            </a:r>
            <a:br>
              <a:rPr lang="en-US" dirty="0"/>
            </a:br>
            <a:br>
              <a:rPr lang="en-US" dirty="0"/>
            </a:br>
            <a:r>
              <a:rPr lang="en-IN" sz="1800" cap="none" dirty="0">
                <a:solidFill>
                  <a:schemeClr val="accent5"/>
                </a:solidFill>
                <a:effectLst/>
                <a:latin typeface="Calibri" panose="020F0502020204030204" pitchFamily="34" charset="0"/>
                <a:ea typeface="Calibri" panose="020F0502020204030204" pitchFamily="34" charset="0"/>
                <a:cs typeface="Calibri" panose="020F0502020204030204" pitchFamily="34" charset="0"/>
              </a:rPr>
              <a:t>This project </a:t>
            </a:r>
            <a:r>
              <a:rPr lang="en-IN" sz="1800" cap="none" dirty="0">
                <a:solidFill>
                  <a:schemeClr val="accent5"/>
                </a:solidFill>
                <a:latin typeface="Calibri" panose="020F0502020204030204" pitchFamily="34" charset="0"/>
                <a:ea typeface="Calibri" panose="020F0502020204030204" pitchFamily="34" charset="0"/>
                <a:cs typeface="Calibri" panose="020F0502020204030204" pitchFamily="34" charset="0"/>
              </a:rPr>
              <a:t>aims</a:t>
            </a:r>
            <a:r>
              <a:rPr lang="en-IN" sz="1800" cap="none" dirty="0">
                <a:solidFill>
                  <a:schemeClr val="accent5"/>
                </a:solidFill>
                <a:effectLst/>
                <a:latin typeface="Calibri" panose="020F0502020204030204" pitchFamily="34" charset="0"/>
                <a:ea typeface="Calibri" panose="020F0502020204030204" pitchFamily="34" charset="0"/>
                <a:cs typeface="Calibri" panose="020F0502020204030204" pitchFamily="34" charset="0"/>
              </a:rPr>
              <a:t> to develop a predictive model using artificial neural networks (ANN) to identify customers who are likely to churn (exit) from </a:t>
            </a:r>
            <a:r>
              <a:rPr lang="en-IN" sz="1800" cap="none" dirty="0" err="1">
                <a:solidFill>
                  <a:schemeClr val="accent5"/>
                </a:solidFill>
                <a:effectLst/>
                <a:latin typeface="Calibri" panose="020F0502020204030204" pitchFamily="34" charset="0"/>
                <a:ea typeface="Calibri" panose="020F0502020204030204" pitchFamily="34" charset="0"/>
                <a:cs typeface="Calibri" panose="020F0502020204030204" pitchFamily="34" charset="0"/>
              </a:rPr>
              <a:t>american</a:t>
            </a:r>
            <a:r>
              <a:rPr lang="en-IN" sz="1800" cap="none" dirty="0">
                <a:solidFill>
                  <a:schemeClr val="accent5"/>
                </a:solidFill>
                <a:effectLst/>
                <a:latin typeface="Calibri" panose="020F0502020204030204" pitchFamily="34" charset="0"/>
                <a:ea typeface="Calibri" panose="020F0502020204030204" pitchFamily="34" charset="0"/>
                <a:cs typeface="Calibri" panose="020F0502020204030204" pitchFamily="34" charset="0"/>
              </a:rPr>
              <a:t> express services. By leveraging machine learning techniques, the goal is to </a:t>
            </a:r>
            <a:r>
              <a:rPr lang="en-IN" sz="1800" cap="none" dirty="0" err="1">
                <a:solidFill>
                  <a:schemeClr val="accent5"/>
                </a:solidFill>
                <a:effectLst/>
                <a:latin typeface="Calibri" panose="020F0502020204030204" pitchFamily="34" charset="0"/>
                <a:ea typeface="Calibri" panose="020F0502020204030204" pitchFamily="34" charset="0"/>
                <a:cs typeface="Calibri" panose="020F0502020204030204" pitchFamily="34" charset="0"/>
              </a:rPr>
              <a:t>analyze</a:t>
            </a:r>
            <a:r>
              <a:rPr lang="en-IN" sz="1800" cap="none" dirty="0">
                <a:solidFill>
                  <a:schemeClr val="accent5"/>
                </a:solidFill>
                <a:effectLst/>
                <a:latin typeface="Calibri" panose="020F0502020204030204" pitchFamily="34" charset="0"/>
                <a:ea typeface="Calibri" panose="020F0502020204030204" pitchFamily="34" charset="0"/>
                <a:cs typeface="Calibri" panose="020F0502020204030204" pitchFamily="34" charset="0"/>
              </a:rPr>
              <a:t> customer </a:t>
            </a:r>
            <a:r>
              <a:rPr lang="en-IN" sz="1800" cap="none" dirty="0" err="1">
                <a:solidFill>
                  <a:schemeClr val="accent5"/>
                </a:solidFill>
                <a:effectLst/>
                <a:latin typeface="Calibri" panose="020F0502020204030204" pitchFamily="34" charset="0"/>
                <a:ea typeface="Calibri" panose="020F0502020204030204" pitchFamily="34" charset="0"/>
                <a:cs typeface="Calibri" panose="020F0502020204030204" pitchFamily="34" charset="0"/>
              </a:rPr>
              <a:t>behavior</a:t>
            </a:r>
            <a:r>
              <a:rPr lang="en-IN" sz="1800" cap="none" dirty="0">
                <a:solidFill>
                  <a:schemeClr val="accent5"/>
                </a:solidFill>
                <a:effectLst/>
                <a:latin typeface="Calibri" panose="020F0502020204030204" pitchFamily="34" charset="0"/>
                <a:ea typeface="Calibri" panose="020F0502020204030204" pitchFamily="34" charset="0"/>
                <a:cs typeface="Calibri" panose="020F0502020204030204" pitchFamily="34" charset="0"/>
              </a:rPr>
              <a:t>, identify key factors influencing churn, and provide insights that can help retain customers</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p>
        </p:txBody>
      </p:sp>
      <p:pic>
        <p:nvPicPr>
          <p:cNvPr id="17" name="Picture Placeholder 16">
            <a:extLst>
              <a:ext uri="{FF2B5EF4-FFF2-40B4-BE49-F238E27FC236}">
                <a16:creationId xmlns:a16="http://schemas.microsoft.com/office/drawing/2014/main" id="{4D6EE8D1-247A-B95F-BD1A-A2D76964CF3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0" y="4509654"/>
            <a:ext cx="12192000" cy="2348345"/>
          </a:xfrm>
          <a:prstGeom prst="rect">
            <a:avLst/>
          </a:prstGeom>
          <a:ln>
            <a:noFill/>
          </a:ln>
          <a:effectLst>
            <a:softEdge rad="112500"/>
          </a:effectLst>
        </p:spPr>
      </p:pic>
    </p:spTree>
    <p:extLst>
      <p:ext uri="{BB962C8B-B14F-4D97-AF65-F5344CB8AC3E}">
        <p14:creationId xmlns:p14="http://schemas.microsoft.com/office/powerpoint/2010/main" val="82108800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1215072" y="528320"/>
            <a:ext cx="4880928" cy="1894972"/>
          </a:xfrm>
          <a:noFill/>
        </p:spPr>
        <p:txBody>
          <a:bodyPr>
            <a:noAutofit/>
          </a:bodyPr>
          <a:lstStyle/>
          <a:p>
            <a:r>
              <a:rPr lang="en-US" dirty="0"/>
              <a:t>Business problem:</a:t>
            </a: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1215073" y="2535381"/>
            <a:ext cx="6494982" cy="3470563"/>
          </a:xfrm>
          <a:noFill/>
        </p:spPr>
        <p:txBody>
          <a:bodyPr anchor="t"/>
          <a:lstStyle/>
          <a:p>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IN" sz="1800" cap="none" dirty="0">
                <a:effectLst/>
                <a:latin typeface="Calibri" panose="020F0502020204030204" pitchFamily="34" charset="0"/>
                <a:ea typeface="Calibri" panose="020F0502020204030204" pitchFamily="34" charset="0"/>
                <a:cs typeface="Times New Roman" panose="02020603050405020304" pitchFamily="18" charset="0"/>
              </a:rPr>
              <a:t>Customer retention is a crucial challenge for financial institutions. Losing a customer not only impacts revenue but also increases acquisition costs for new customers. By predicting customer churn, </a:t>
            </a:r>
            <a:r>
              <a:rPr lang="en-IN" sz="1800" cap="none" dirty="0" err="1">
                <a:effectLst/>
                <a:latin typeface="Calibri" panose="020F0502020204030204" pitchFamily="34" charset="0"/>
                <a:ea typeface="Calibri" panose="020F0502020204030204" pitchFamily="34" charset="0"/>
                <a:cs typeface="Times New Roman" panose="02020603050405020304" pitchFamily="18" charset="0"/>
              </a:rPr>
              <a:t>american</a:t>
            </a:r>
            <a:r>
              <a:rPr lang="en-IN" sz="1800" cap="none" dirty="0">
                <a:effectLst/>
                <a:latin typeface="Calibri" panose="020F0502020204030204" pitchFamily="34" charset="0"/>
                <a:ea typeface="Calibri" panose="020F0502020204030204" pitchFamily="34" charset="0"/>
                <a:cs typeface="Times New Roman" panose="02020603050405020304" pitchFamily="18" charset="0"/>
              </a:rPr>
              <a:t> express can implement targeted strategies such as personalized offers, improved customer service, or loyalty programs to retain high-risk customers</a:t>
            </a:r>
            <a:endParaRPr lang="en-US" dirty="0"/>
          </a:p>
        </p:txBody>
      </p:sp>
      <p:pic>
        <p:nvPicPr>
          <p:cNvPr id="43" name="Picture Placeholder 42">
            <a:extLst>
              <a:ext uri="{FF2B5EF4-FFF2-40B4-BE49-F238E27FC236}">
                <a16:creationId xmlns:a16="http://schemas.microsoft.com/office/drawing/2014/main" id="{9100BC91-12A3-DE75-3F38-9C17D39DC5E7}"/>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7624293" y="-1"/>
            <a:ext cx="4644000" cy="7509692"/>
          </a:xfrm>
          <a:prstGeom prst="rect">
            <a:avLst/>
          </a:prstGeom>
          <a:ln>
            <a:noFill/>
          </a:ln>
          <a:effectLst>
            <a:softEdge rad="112500"/>
          </a:effectLst>
        </p:spPr>
      </p:pic>
    </p:spTree>
    <p:extLst>
      <p:ext uri="{BB962C8B-B14F-4D97-AF65-F5344CB8AC3E}">
        <p14:creationId xmlns:p14="http://schemas.microsoft.com/office/powerpoint/2010/main" val="424203928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32B42-2FC9-4E3E-83E7-E8F83C82D9F0}"/>
              </a:ext>
            </a:extLst>
          </p:cNvPr>
          <p:cNvSpPr>
            <a:spLocks noGrp="1"/>
          </p:cNvSpPr>
          <p:nvPr>
            <p:ph type="ctrTitle"/>
          </p:nvPr>
        </p:nvSpPr>
        <p:spPr>
          <a:xfrm>
            <a:off x="1215072" y="528320"/>
            <a:ext cx="5028566" cy="1044171"/>
          </a:xfrm>
        </p:spPr>
        <p:txBody>
          <a:bodyPr/>
          <a:lstStyle/>
          <a:p>
            <a:r>
              <a:rPr lang="en-IN" sz="4400" kern="100" dirty="0">
                <a:effectLst/>
                <a:ea typeface="Calibri" panose="020F0502020204030204" pitchFamily="34" charset="0"/>
                <a:cs typeface="Times New Roman" panose="02020603050405020304" pitchFamily="18" charset="0"/>
              </a:rPr>
              <a:t>Dataset Description</a:t>
            </a:r>
            <a:endParaRPr lang="en-IN" dirty="0"/>
          </a:p>
        </p:txBody>
      </p:sp>
      <p:sp>
        <p:nvSpPr>
          <p:cNvPr id="3" name="Subtitle 2">
            <a:extLst>
              <a:ext uri="{FF2B5EF4-FFF2-40B4-BE49-F238E27FC236}">
                <a16:creationId xmlns:a16="http://schemas.microsoft.com/office/drawing/2014/main" id="{763C6D1A-A4EB-8F12-08D6-B3CCE7604E5C}"/>
              </a:ext>
            </a:extLst>
          </p:cNvPr>
          <p:cNvSpPr>
            <a:spLocks noGrp="1"/>
          </p:cNvSpPr>
          <p:nvPr>
            <p:ph type="subTitle" idx="1"/>
          </p:nvPr>
        </p:nvSpPr>
        <p:spPr>
          <a:xfrm>
            <a:off x="408710" y="1808018"/>
            <a:ext cx="7128164" cy="4114946"/>
          </a:xfrm>
        </p:spPr>
        <p:txBody>
          <a:bodyPr/>
          <a:lstStyle/>
          <a:p>
            <a:pPr>
              <a:lnSpc>
                <a:spcPct val="107000"/>
              </a:lnSpc>
              <a:spcAft>
                <a:spcPts val="800"/>
              </a:spcAft>
            </a:pP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dataset consists of customer attributes, transaction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behaviors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and historical data, which are used to predict whether a customer will churn or remain with the service. It includes categorical and numerical features, such as:</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Demographics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(e.g., age, gender, geographic region)</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Account Information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(e.g., account balance, transaction frequency)</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Customer Engagement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(e.g., product usage, complaint history)</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Target Variable: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Exited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(1 if the customer left, 0 otherwise)</a:t>
            </a:r>
          </a:p>
          <a:p>
            <a:endParaRPr lang="en-IN" dirty="0"/>
          </a:p>
        </p:txBody>
      </p:sp>
      <p:pic>
        <p:nvPicPr>
          <p:cNvPr id="6" name="Picture Placeholder 5">
            <a:extLst>
              <a:ext uri="{FF2B5EF4-FFF2-40B4-BE49-F238E27FC236}">
                <a16:creationId xmlns:a16="http://schemas.microsoft.com/office/drawing/2014/main" id="{0146B9B2-2555-D88A-B285-EB6B8B4F6F6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7353300" y="1"/>
            <a:ext cx="4838700" cy="6857999"/>
          </a:xfrm>
          <a:prstGeom prst="rect">
            <a:avLst/>
          </a:prstGeom>
        </p:spPr>
      </p:pic>
    </p:spTree>
    <p:extLst>
      <p:ext uri="{BB962C8B-B14F-4D97-AF65-F5344CB8AC3E}">
        <p14:creationId xmlns:p14="http://schemas.microsoft.com/office/powerpoint/2010/main" val="107877714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ctrTitle"/>
          </p:nvPr>
        </p:nvSpPr>
        <p:spPr>
          <a:xfrm>
            <a:off x="4709801" y="-168852"/>
            <a:ext cx="5427584" cy="919330"/>
          </a:xfrm>
          <a:noFill/>
        </p:spPr>
        <p:txBody>
          <a:bodyPr/>
          <a:lstStyle/>
          <a:p>
            <a:r>
              <a:rPr lang="en-IN" sz="2800" b="1" kern="100" dirty="0">
                <a:solidFill>
                  <a:schemeClr val="accent3"/>
                </a:solidFill>
                <a:effectLst/>
                <a:ea typeface="Calibri" panose="020F0502020204030204" pitchFamily="34" charset="0"/>
                <a:cs typeface="Times New Roman" panose="02020603050405020304" pitchFamily="18" charset="0"/>
              </a:rPr>
              <a:t>Methodology:</a:t>
            </a:r>
            <a:endParaRPr lang="en-US" sz="4800" dirty="0">
              <a:solidFill>
                <a:schemeClr val="accent3"/>
              </a:solidFill>
            </a:endParaRPr>
          </a:p>
        </p:txBody>
      </p:sp>
      <p:sp>
        <p:nvSpPr>
          <p:cNvPr id="10" name="Picture Placeholder 9">
            <a:extLst>
              <a:ext uri="{FF2B5EF4-FFF2-40B4-BE49-F238E27FC236}">
                <a16:creationId xmlns:a16="http://schemas.microsoft.com/office/drawing/2014/main" id="{3B894068-8847-FF8F-08DC-47B486DB263E}"/>
              </a:ext>
            </a:extLst>
          </p:cNvPr>
          <p:cNvSpPr>
            <a:spLocks noGrp="1"/>
          </p:cNvSpPr>
          <p:nvPr>
            <p:ph type="pic" sz="quarter" idx="10"/>
          </p:nvPr>
        </p:nvSpPr>
        <p:spPr/>
      </p:sp>
      <p:sp>
        <p:nvSpPr>
          <p:cNvPr id="3" name="Content Placeholder 2">
            <a:extLst>
              <a:ext uri="{FF2B5EF4-FFF2-40B4-BE49-F238E27FC236}">
                <a16:creationId xmlns:a16="http://schemas.microsoft.com/office/drawing/2014/main" id="{A6A33159-D030-2F82-A142-F75940728319}"/>
              </a:ext>
            </a:extLst>
          </p:cNvPr>
          <p:cNvSpPr>
            <a:spLocks noGrp="1"/>
          </p:cNvSpPr>
          <p:nvPr>
            <p:ph sz="half" idx="4294967295"/>
          </p:nvPr>
        </p:nvSpPr>
        <p:spPr>
          <a:xfrm>
            <a:off x="3880842" y="1018963"/>
            <a:ext cx="8348133" cy="5461000"/>
          </a:xfrm>
          <a:noFill/>
        </p:spPr>
        <p:txBody>
          <a:bodyPr vert="horz" lIns="91440" tIns="45720" rIns="91440" bIns="45720" rtlCol="0" anchor="t">
            <a:normAutofit fontScale="32500" lnSpcReduction="20000"/>
          </a:bodyPr>
          <a:lstStyle/>
          <a:p>
            <a:pPr marL="0" lvl="0" indent="0">
              <a:lnSpc>
                <a:spcPct val="107000"/>
              </a:lnSpc>
              <a:spcAft>
                <a:spcPts val="800"/>
              </a:spcAft>
              <a:buNone/>
              <a:tabLst>
                <a:tab pos="457200" algn="l"/>
              </a:tabLst>
            </a:pPr>
            <a:r>
              <a:rPr lang="en-IN" sz="4300" b="1" kern="100" dirty="0">
                <a:latin typeface="Calibri" panose="020F0502020204030204" pitchFamily="34" charset="0"/>
                <a:ea typeface="Calibri" panose="020F0502020204030204" pitchFamily="34" charset="0"/>
                <a:cs typeface="Times New Roman" panose="02020603050405020304" pitchFamily="18" charset="0"/>
              </a:rPr>
              <a:t>          </a:t>
            </a:r>
            <a:r>
              <a:rPr lang="en-IN" sz="4300" b="1" kern="100" dirty="0">
                <a:effectLst/>
                <a:latin typeface="Calibri" panose="020F0502020204030204" pitchFamily="34" charset="0"/>
                <a:ea typeface="Calibri" panose="020F0502020204030204" pitchFamily="34" charset="0"/>
                <a:cs typeface="Times New Roman" panose="02020603050405020304" pitchFamily="18" charset="0"/>
              </a:rPr>
              <a:t> Exploratory Data Analysis (EDA):</a:t>
            </a:r>
            <a:endParaRPr lang="en-IN" sz="43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Understanding dataset structure, missing values, correlations, and distributions.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Visualizing the target variable distribution.</a:t>
            </a:r>
          </a:p>
          <a:p>
            <a:pPr marL="457200" lvl="1" indent="0">
              <a:lnSpc>
                <a:spcPct val="107000"/>
              </a:lnSpc>
              <a:spcAft>
                <a:spcPts val="800"/>
              </a:spcAft>
              <a:buSzPts val="1000"/>
              <a:buNone/>
              <a:tabLst>
                <a:tab pos="914400" algn="l"/>
              </a:tabLst>
            </a:pPr>
            <a:r>
              <a:rPr lang="en-IN" sz="4300" b="1" kern="100" dirty="0">
                <a:effectLst/>
                <a:latin typeface="Calibri" panose="020F0502020204030204" pitchFamily="34" charset="0"/>
                <a:ea typeface="Calibri" panose="020F0502020204030204" pitchFamily="34" charset="0"/>
                <a:cs typeface="Times New Roman" panose="02020603050405020304" pitchFamily="18" charset="0"/>
              </a:rPr>
              <a:t> Data Preprocessing:</a:t>
            </a:r>
            <a:endParaRPr lang="en-IN" sz="43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Encoding categorical variables (e.g., gender, region).</a:t>
            </a:r>
          </a:p>
          <a:p>
            <a:pPr marL="742950" lvl="1" indent="-285750">
              <a:lnSpc>
                <a:spcPct val="107000"/>
              </a:lnSpc>
              <a:spcAft>
                <a:spcPts val="800"/>
              </a:spcAft>
              <a:buSzPts val="1000"/>
              <a:buFont typeface="Courier New" panose="02070309020205020404" pitchFamily="49" charset="0"/>
              <a:buChar char="o"/>
              <a:tabLst>
                <a:tab pos="914400" algn="l"/>
              </a:tabLst>
            </a:pP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Handling missing values.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Splitting data into training and test sets (80-20 ratio).</a:t>
            </a:r>
          </a:p>
          <a:p>
            <a:pPr marL="742950" lvl="1" indent="-285750">
              <a:lnSpc>
                <a:spcPct val="107000"/>
              </a:lnSpc>
              <a:spcAft>
                <a:spcPts val="800"/>
              </a:spcAft>
              <a:buSzPts val="1000"/>
              <a:buFont typeface="Courier New" panose="02070309020205020404" pitchFamily="49" charset="0"/>
              <a:buChar char="o"/>
              <a:tabLst>
                <a:tab pos="914400" algn="l"/>
              </a:tabLst>
            </a:pP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Standardizing numerical features for optimal model performance.</a:t>
            </a:r>
          </a:p>
          <a:p>
            <a:pPr marL="457200" lvl="1" indent="0">
              <a:lnSpc>
                <a:spcPct val="107000"/>
              </a:lnSpc>
              <a:spcAft>
                <a:spcPts val="800"/>
              </a:spcAft>
              <a:buSzPts val="1000"/>
              <a:buNone/>
              <a:tabLst>
                <a:tab pos="914400" algn="l"/>
              </a:tabLst>
            </a:pPr>
            <a:r>
              <a:rPr lang="en-IN" sz="4300" b="1" kern="100" dirty="0">
                <a:effectLst/>
                <a:latin typeface="Calibri" panose="020F0502020204030204" pitchFamily="34" charset="0"/>
                <a:ea typeface="Calibri" panose="020F0502020204030204" pitchFamily="34" charset="0"/>
                <a:cs typeface="Times New Roman" panose="02020603050405020304" pitchFamily="18" charset="0"/>
              </a:rPr>
              <a:t>Model Development (ANN):</a:t>
            </a:r>
            <a:endParaRPr lang="en-IN" sz="43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Constructing an Artificial Neural Network with input, hidden, and output layers.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Using </a:t>
            </a:r>
            <a:r>
              <a:rPr lang="en-IN" sz="4300" b="1" kern="100" dirty="0" err="1">
                <a:effectLst/>
                <a:latin typeface="Calibri" panose="020F0502020204030204" pitchFamily="34" charset="0"/>
                <a:ea typeface="Calibri" panose="020F0502020204030204" pitchFamily="34" charset="0"/>
                <a:cs typeface="Times New Roman" panose="02020603050405020304" pitchFamily="18" charset="0"/>
              </a:rPr>
              <a:t>ReLU</a:t>
            </a: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 activation for hidden layers and </a:t>
            </a:r>
            <a:r>
              <a:rPr lang="en-IN" sz="4300" b="1" kern="100" dirty="0">
                <a:effectLst/>
                <a:latin typeface="Calibri" panose="020F0502020204030204" pitchFamily="34" charset="0"/>
                <a:ea typeface="Calibri" panose="020F0502020204030204" pitchFamily="34" charset="0"/>
                <a:cs typeface="Times New Roman" panose="02020603050405020304" pitchFamily="18" charset="0"/>
              </a:rPr>
              <a:t>Sigmoid</a:t>
            </a: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 for binary classification.</a:t>
            </a:r>
          </a:p>
          <a:p>
            <a:pPr marL="457200" lvl="1" indent="0">
              <a:lnSpc>
                <a:spcPct val="107000"/>
              </a:lnSpc>
              <a:spcAft>
                <a:spcPts val="800"/>
              </a:spcAft>
              <a:buSzPts val="1000"/>
              <a:buNone/>
              <a:tabLst>
                <a:tab pos="914400" algn="l"/>
              </a:tabLst>
            </a:pPr>
            <a:r>
              <a:rPr lang="en-IN" sz="4300" b="1" kern="100" dirty="0">
                <a:effectLst/>
                <a:latin typeface="Calibri" panose="020F0502020204030204" pitchFamily="34" charset="0"/>
                <a:ea typeface="Calibri" panose="020F0502020204030204" pitchFamily="34" charset="0"/>
                <a:cs typeface="Times New Roman" panose="02020603050405020304" pitchFamily="18" charset="0"/>
              </a:rPr>
              <a:t>Model Training &amp; Evaluation:</a:t>
            </a:r>
            <a:endParaRPr lang="en-IN" sz="43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Training the model on historical data for </a:t>
            </a:r>
            <a:r>
              <a:rPr lang="en-IN" sz="4300" b="1" kern="100" dirty="0">
                <a:effectLst/>
                <a:latin typeface="Calibri" panose="020F0502020204030204" pitchFamily="34" charset="0"/>
                <a:ea typeface="Calibri" panose="020F0502020204030204" pitchFamily="34" charset="0"/>
                <a:cs typeface="Times New Roman" panose="02020603050405020304" pitchFamily="18" charset="0"/>
              </a:rPr>
              <a:t>120 epochs</a:t>
            </a: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 using batch gradient descent.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Evaluating performance using </a:t>
            </a:r>
            <a:r>
              <a:rPr lang="en-IN" sz="4300" b="1" kern="100" dirty="0">
                <a:effectLst/>
                <a:latin typeface="Calibri" panose="020F0502020204030204" pitchFamily="34" charset="0"/>
                <a:ea typeface="Calibri" panose="020F0502020204030204" pitchFamily="34" charset="0"/>
                <a:cs typeface="Times New Roman" panose="02020603050405020304" pitchFamily="18" charset="0"/>
              </a:rPr>
              <a:t>accuracy score</a:t>
            </a: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IN" sz="4300" b="1" kern="100" dirty="0">
                <a:effectLst/>
                <a:latin typeface="Calibri" panose="020F0502020204030204" pitchFamily="34" charset="0"/>
                <a:ea typeface="Calibri" panose="020F0502020204030204" pitchFamily="34" charset="0"/>
                <a:cs typeface="Times New Roman" panose="02020603050405020304" pitchFamily="18" charset="0"/>
              </a:rPr>
              <a:t>confusion matrix</a:t>
            </a:r>
            <a:endParaRPr lang="en-IN" sz="43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4300" kern="100" dirty="0">
                <a:effectLst/>
                <a:latin typeface="Calibri" panose="020F0502020204030204" pitchFamily="34" charset="0"/>
                <a:ea typeface="Calibri" panose="020F0502020204030204" pitchFamily="34" charset="0"/>
                <a:cs typeface="Times New Roman" panose="02020603050405020304" pitchFamily="18" charset="0"/>
              </a:rPr>
              <a:t>Visualizing model accuracy and loss trends over training epochs.</a:t>
            </a:r>
          </a:p>
          <a:p>
            <a:endParaRPr lang="en-US" dirty="0"/>
          </a:p>
        </p:txBody>
      </p:sp>
      <p:sp>
        <p:nvSpPr>
          <p:cNvPr id="8" name="Rectangle 7">
            <a:extLst>
              <a:ext uri="{FF2B5EF4-FFF2-40B4-BE49-F238E27FC236}">
                <a16:creationId xmlns:a16="http://schemas.microsoft.com/office/drawing/2014/main" id="{C318955E-6C9C-2ADB-A7D8-1396E83CCC34}"/>
              </a:ext>
            </a:extLst>
          </p:cNvPr>
          <p:cNvSpPr/>
          <p:nvPr/>
        </p:nvSpPr>
        <p:spPr>
          <a:xfrm>
            <a:off x="728131" y="255694"/>
            <a:ext cx="1989667" cy="1168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Exploratory Data Analysis (EDA)</a:t>
            </a:r>
            <a:endParaRPr lang="en-IN"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6083502B-06C2-5A82-3829-ECDB982D5941}"/>
              </a:ext>
            </a:extLst>
          </p:cNvPr>
          <p:cNvSpPr/>
          <p:nvPr/>
        </p:nvSpPr>
        <p:spPr>
          <a:xfrm>
            <a:off x="728131" y="1954742"/>
            <a:ext cx="1989666" cy="12640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Data Preprocessing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Arrow: Down 10">
            <a:extLst>
              <a:ext uri="{FF2B5EF4-FFF2-40B4-BE49-F238E27FC236}">
                <a16:creationId xmlns:a16="http://schemas.microsoft.com/office/drawing/2014/main" id="{4C66AD47-1877-1E5A-C6D2-2EB344BEB712}"/>
              </a:ext>
            </a:extLst>
          </p:cNvPr>
          <p:cNvSpPr/>
          <p:nvPr/>
        </p:nvSpPr>
        <p:spPr>
          <a:xfrm>
            <a:off x="1586045" y="1424094"/>
            <a:ext cx="194733" cy="499533"/>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Rectangle 11">
            <a:extLst>
              <a:ext uri="{FF2B5EF4-FFF2-40B4-BE49-F238E27FC236}">
                <a16:creationId xmlns:a16="http://schemas.microsoft.com/office/drawing/2014/main" id="{F19A0982-2357-5DDE-B36E-157F805613C9}"/>
              </a:ext>
            </a:extLst>
          </p:cNvPr>
          <p:cNvSpPr/>
          <p:nvPr/>
        </p:nvSpPr>
        <p:spPr>
          <a:xfrm>
            <a:off x="688579" y="3749463"/>
            <a:ext cx="1989667" cy="1168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Model Development (ANN)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IN" dirty="0"/>
          </a:p>
        </p:txBody>
      </p:sp>
      <p:sp>
        <p:nvSpPr>
          <p:cNvPr id="13" name="Arrow: Down 12">
            <a:extLst>
              <a:ext uri="{FF2B5EF4-FFF2-40B4-BE49-F238E27FC236}">
                <a16:creationId xmlns:a16="http://schemas.microsoft.com/office/drawing/2014/main" id="{0FDF79B3-E555-6824-A34E-1BD3925A238B}"/>
              </a:ext>
            </a:extLst>
          </p:cNvPr>
          <p:cNvSpPr/>
          <p:nvPr/>
        </p:nvSpPr>
        <p:spPr>
          <a:xfrm>
            <a:off x="1586044" y="3218815"/>
            <a:ext cx="194734" cy="530648"/>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4" name="Arrow: Down 13">
            <a:extLst>
              <a:ext uri="{FF2B5EF4-FFF2-40B4-BE49-F238E27FC236}">
                <a16:creationId xmlns:a16="http://schemas.microsoft.com/office/drawing/2014/main" id="{05384A0A-7B27-D669-E270-598C15A0418D}"/>
              </a:ext>
            </a:extLst>
          </p:cNvPr>
          <p:cNvSpPr/>
          <p:nvPr/>
        </p:nvSpPr>
        <p:spPr>
          <a:xfrm>
            <a:off x="1587497" y="4917863"/>
            <a:ext cx="193281" cy="530648"/>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5" name="Rectangle 14">
            <a:extLst>
              <a:ext uri="{FF2B5EF4-FFF2-40B4-BE49-F238E27FC236}">
                <a16:creationId xmlns:a16="http://schemas.microsoft.com/office/drawing/2014/main" id="{B470D375-5E96-43AB-75F8-4A313FAAFC7B}"/>
              </a:ext>
            </a:extLst>
          </p:cNvPr>
          <p:cNvSpPr/>
          <p:nvPr/>
        </p:nvSpPr>
        <p:spPr>
          <a:xfrm>
            <a:off x="688579" y="5448511"/>
            <a:ext cx="1950115" cy="1168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457200" lvl="1" indent="0">
              <a:lnSpc>
                <a:spcPct val="107000"/>
              </a:lnSpc>
              <a:spcAft>
                <a:spcPts val="800"/>
              </a:spcAft>
              <a:buSzPts val="1000"/>
              <a:buNone/>
              <a:tabLst>
                <a:tab pos="9144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Model Training &amp; Evaluation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6667467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2F479-22EF-EEA9-E87E-210D23A97CDE}"/>
              </a:ext>
            </a:extLst>
          </p:cNvPr>
          <p:cNvSpPr>
            <a:spLocks noGrp="1"/>
          </p:cNvSpPr>
          <p:nvPr>
            <p:ph type="title"/>
          </p:nvPr>
        </p:nvSpPr>
        <p:spPr/>
        <p:txBody>
          <a:bodyPr/>
          <a:lstStyle/>
          <a:p>
            <a:r>
              <a:rPr lang="en-IN" sz="4000" b="1" i="0" kern="100">
                <a:solidFill>
                  <a:schemeClr val="accent3"/>
                </a:solidFill>
                <a:effectLst/>
                <a:ea typeface="Calibri" panose="020F0502020204030204" pitchFamily="34" charset="0"/>
                <a:cs typeface="Times New Roman" panose="02020603050405020304" pitchFamily="18" charset="0"/>
              </a:rPr>
              <a:t>Expected Outcome:</a:t>
            </a:r>
            <a:br>
              <a:rPr lang="en-IN" sz="4000" b="1" i="0" kern="100">
                <a:solidFill>
                  <a:schemeClr val="accent3"/>
                </a:solidFill>
                <a:effectLst/>
                <a:ea typeface="Calibri" panose="020F0502020204030204" pitchFamily="34" charset="0"/>
                <a:cs typeface="Times New Roman" panose="02020603050405020304" pitchFamily="18" charset="0"/>
              </a:rPr>
            </a:br>
            <a:endParaRPr lang="en-IN" sz="4000" b="1" i="0" dirty="0">
              <a:solidFill>
                <a:schemeClr val="accent3"/>
              </a:solidFill>
            </a:endParaRPr>
          </a:p>
        </p:txBody>
      </p:sp>
      <p:sp>
        <p:nvSpPr>
          <p:cNvPr id="3" name="Content Placeholder 2">
            <a:extLst>
              <a:ext uri="{FF2B5EF4-FFF2-40B4-BE49-F238E27FC236}">
                <a16:creationId xmlns:a16="http://schemas.microsoft.com/office/drawing/2014/main" id="{D9E7D1FE-49E9-6289-3722-319FEC3A3F08}"/>
              </a:ext>
            </a:extLst>
          </p:cNvPr>
          <p:cNvSpPr>
            <a:spLocks noGrp="1"/>
          </p:cNvSpPr>
          <p:nvPr>
            <p:ph idx="1"/>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800" kern="100">
                <a:effectLst/>
                <a:latin typeface="Calibri" panose="020F0502020204030204" pitchFamily="34" charset="0"/>
                <a:ea typeface="Calibri" panose="020F0502020204030204" pitchFamily="34" charset="0"/>
                <a:cs typeface="Times New Roman" panose="02020603050405020304" pitchFamily="18" charset="0"/>
              </a:rPr>
              <a:t>A trained ANN model that accurately classifies customers into churn or non-churn categories.</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a:effectLst/>
                <a:latin typeface="Calibri" panose="020F0502020204030204" pitchFamily="34" charset="0"/>
                <a:ea typeface="Calibri" panose="020F0502020204030204" pitchFamily="34" charset="0"/>
                <a:cs typeface="Times New Roman" panose="02020603050405020304" pitchFamily="18" charset="0"/>
              </a:rPr>
              <a:t>Identification of significant factors contributing to customer churn.</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a:effectLst/>
                <a:latin typeface="Calibri" panose="020F0502020204030204" pitchFamily="34" charset="0"/>
                <a:ea typeface="Calibri" panose="020F0502020204030204" pitchFamily="34" charset="0"/>
                <a:cs typeface="Times New Roman" panose="02020603050405020304" pitchFamily="18" charset="0"/>
              </a:rPr>
              <a:t>Insights that American Express can use to enhance customer retention strategies.</a:t>
            </a:r>
          </a:p>
          <a:p>
            <a:endParaRPr lang="en-IN" dirty="0"/>
          </a:p>
        </p:txBody>
      </p:sp>
      <p:sp>
        <p:nvSpPr>
          <p:cNvPr id="10" name="Picture Placeholder 9">
            <a:extLst>
              <a:ext uri="{FF2B5EF4-FFF2-40B4-BE49-F238E27FC236}">
                <a16:creationId xmlns:a16="http://schemas.microsoft.com/office/drawing/2014/main" id="{BDBDD5EE-9C83-189B-ECC3-543575C0C1B7}"/>
              </a:ext>
            </a:extLst>
          </p:cNvPr>
          <p:cNvSpPr>
            <a:spLocks noGrp="1"/>
          </p:cNvSpPr>
          <p:nvPr>
            <p:ph type="pic" sz="quarter" idx="13"/>
          </p:nvPr>
        </p:nvSpPr>
        <p:spPr/>
      </p:sp>
    </p:spTree>
    <p:extLst>
      <p:ext uri="{BB962C8B-B14F-4D97-AF65-F5344CB8AC3E}">
        <p14:creationId xmlns:p14="http://schemas.microsoft.com/office/powerpoint/2010/main" val="426585810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2202872" y="48491"/>
            <a:ext cx="8846127" cy="1330036"/>
          </a:xfrm>
          <a:noFill/>
        </p:spPr>
        <p:txBody>
          <a:bodyPr/>
          <a:lstStyle/>
          <a:p>
            <a:r>
              <a:rPr lang="en-US" dirty="0"/>
              <a:t>Code implementation</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4"/>
          </p:nvPr>
        </p:nvSpPr>
        <p:spPr>
          <a:xfrm>
            <a:off x="896012" y="1922719"/>
            <a:ext cx="4463005" cy="4243646"/>
          </a:xfrm>
          <a:solidFill>
            <a:schemeClr val="bg1"/>
          </a:solidFill>
        </p:spPr>
        <p:txBody>
          <a:bodyPr>
            <a:normAutofit/>
          </a:bodyPr>
          <a:lstStyle/>
          <a:p>
            <a:pPr marL="342900" indent="-342900">
              <a:buAutoNum type="arabicPeriod"/>
            </a:pPr>
            <a:r>
              <a:rPr lang="en-IN" b="1" dirty="0">
                <a:solidFill>
                  <a:schemeClr val="accent3"/>
                </a:solidFill>
                <a:latin typeface="+mj-lt"/>
              </a:rPr>
              <a:t>Installing Dependencies</a:t>
            </a:r>
          </a:p>
          <a:p>
            <a:pPr marL="342900" indent="-342900">
              <a:buAutoNum type="arabicPeriod"/>
            </a:pPr>
            <a:endParaRPr lang="en-IN" b="1" dirty="0">
              <a:solidFill>
                <a:schemeClr val="accent3"/>
              </a:solidFill>
              <a:latin typeface="+mj-lt"/>
            </a:endParaRPr>
          </a:p>
          <a:p>
            <a:endParaRPr lang="en-IN" b="1" dirty="0">
              <a:solidFill>
                <a:schemeClr val="accent3"/>
              </a:solidFill>
              <a:latin typeface="+mj-lt"/>
            </a:endParaRPr>
          </a:p>
          <a:p>
            <a:pPr lvl="1"/>
            <a:r>
              <a:rPr lang="en-US" b="1" dirty="0"/>
              <a:t>TensorFlow</a:t>
            </a:r>
            <a:r>
              <a:rPr lang="en-US" dirty="0"/>
              <a:t> is an open-source machine learning framework developed by Google for building and training deep learning models.</a:t>
            </a:r>
          </a:p>
          <a:p>
            <a:pPr>
              <a:buFont typeface="Arial" panose="020B0604020202020204" pitchFamily="34" charset="0"/>
              <a:buChar char="•"/>
            </a:pPr>
            <a:r>
              <a:rPr lang="en-US" dirty="0"/>
              <a:t>This installs TensorFlow, a popular deep learning library.</a:t>
            </a:r>
          </a:p>
          <a:p>
            <a:endParaRPr lang="en-US" dirty="0"/>
          </a:p>
        </p:txBody>
      </p:sp>
      <p:pic>
        <p:nvPicPr>
          <p:cNvPr id="8" name="Picture 7">
            <a:extLst>
              <a:ext uri="{FF2B5EF4-FFF2-40B4-BE49-F238E27FC236}">
                <a16:creationId xmlns:a16="http://schemas.microsoft.com/office/drawing/2014/main" id="{1F65754C-2EC1-5FA3-0C2A-59A154F846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961" y="2424545"/>
            <a:ext cx="4865220" cy="790240"/>
          </a:xfrm>
          <a:prstGeom prst="rect">
            <a:avLst/>
          </a:prstGeom>
        </p:spPr>
      </p:pic>
      <p:sp>
        <p:nvSpPr>
          <p:cNvPr id="10" name="Content Placeholder 9">
            <a:extLst>
              <a:ext uri="{FF2B5EF4-FFF2-40B4-BE49-F238E27FC236}">
                <a16:creationId xmlns:a16="http://schemas.microsoft.com/office/drawing/2014/main" id="{1CEA9088-B53C-096B-E0F2-C018D03C9D76}"/>
              </a:ext>
            </a:extLst>
          </p:cNvPr>
          <p:cNvSpPr>
            <a:spLocks noGrp="1"/>
          </p:cNvSpPr>
          <p:nvPr>
            <p:ph sz="half" idx="13"/>
          </p:nvPr>
        </p:nvSpPr>
        <p:spPr>
          <a:xfrm>
            <a:off x="6141720" y="1856509"/>
            <a:ext cx="5212080" cy="4243646"/>
          </a:xfrm>
        </p:spPr>
        <p:txBody>
          <a:bodyPr/>
          <a:lstStyle/>
          <a:p>
            <a:r>
              <a:rPr lang="en-IN" b="1" dirty="0">
                <a:solidFill>
                  <a:schemeClr val="accent3"/>
                </a:solidFill>
              </a:rPr>
              <a:t>2. Importing Necessary Libraries</a:t>
            </a:r>
          </a:p>
        </p:txBody>
      </p:sp>
      <p:pic>
        <p:nvPicPr>
          <p:cNvPr id="12" name="Picture 11">
            <a:extLst>
              <a:ext uri="{FF2B5EF4-FFF2-40B4-BE49-F238E27FC236}">
                <a16:creationId xmlns:a16="http://schemas.microsoft.com/office/drawing/2014/main" id="{D7DC4C84-221F-9FED-C975-60ADD5A33C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3371" y="2500745"/>
            <a:ext cx="5994783" cy="2521528"/>
          </a:xfrm>
          <a:prstGeom prst="rect">
            <a:avLst/>
          </a:prstGeom>
        </p:spPr>
      </p:pic>
    </p:spTree>
    <p:extLst>
      <p:ext uri="{BB962C8B-B14F-4D97-AF65-F5344CB8AC3E}">
        <p14:creationId xmlns:p14="http://schemas.microsoft.com/office/powerpoint/2010/main" val="83740220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1BC40-C0E9-AFEB-4534-4CDC79ED09E8}"/>
              </a:ext>
            </a:extLst>
          </p:cNvPr>
          <p:cNvSpPr>
            <a:spLocks noGrp="1"/>
          </p:cNvSpPr>
          <p:nvPr>
            <p:ph type="title"/>
          </p:nvPr>
        </p:nvSpPr>
        <p:spPr>
          <a:xfrm flipV="1">
            <a:off x="1143000" y="166873"/>
            <a:ext cx="9906000" cy="366528"/>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4A91DE87-8EFE-6548-8A73-95400DE902D0}"/>
              </a:ext>
            </a:extLst>
          </p:cNvPr>
          <p:cNvSpPr>
            <a:spLocks noGrp="1"/>
          </p:cNvSpPr>
          <p:nvPr>
            <p:ph sz="half" idx="1"/>
          </p:nvPr>
        </p:nvSpPr>
        <p:spPr>
          <a:xfrm>
            <a:off x="374073" y="155335"/>
            <a:ext cx="4620491" cy="491218"/>
          </a:xfrm>
        </p:spPr>
        <p:txBody>
          <a:bodyPr/>
          <a:lstStyle/>
          <a:p>
            <a:pPr marL="0" indent="0">
              <a:buNone/>
            </a:pPr>
            <a:r>
              <a:rPr lang="en-IN" b="1" dirty="0">
                <a:solidFill>
                  <a:schemeClr val="accent3"/>
                </a:solidFill>
              </a:rPr>
              <a:t>3. </a:t>
            </a:r>
            <a:r>
              <a:rPr lang="en-IN" b="1" dirty="0">
                <a:solidFill>
                  <a:schemeClr val="accent3"/>
                </a:solidFill>
                <a:latin typeface="+mj-lt"/>
              </a:rPr>
              <a:t>Checking TensorFlow Version</a:t>
            </a:r>
          </a:p>
          <a:p>
            <a:pPr marL="0" indent="0">
              <a:buNone/>
            </a:pPr>
            <a:endParaRPr lang="en-IN" b="1" dirty="0">
              <a:solidFill>
                <a:schemeClr val="accent3"/>
              </a:solidFill>
            </a:endParaRPr>
          </a:p>
          <a:p>
            <a:pPr marL="0" indent="0">
              <a:buNone/>
            </a:pPr>
            <a:endParaRPr lang="en-IN" b="1" dirty="0">
              <a:solidFill>
                <a:schemeClr val="accent3"/>
              </a:solidFill>
            </a:endParaRPr>
          </a:p>
          <a:p>
            <a:pPr marL="0" indent="0">
              <a:buNone/>
            </a:pPr>
            <a:endParaRPr lang="en-IN" b="1" dirty="0">
              <a:solidFill>
                <a:schemeClr val="accent3"/>
              </a:solidFill>
            </a:endParaRPr>
          </a:p>
        </p:txBody>
      </p:sp>
      <p:pic>
        <p:nvPicPr>
          <p:cNvPr id="16" name="Content Placeholder 15">
            <a:extLst>
              <a:ext uri="{FF2B5EF4-FFF2-40B4-BE49-F238E27FC236}">
                <a16:creationId xmlns:a16="http://schemas.microsoft.com/office/drawing/2014/main" id="{C333D14D-A4EB-EFE3-4526-34327E36D38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43113" y="715285"/>
            <a:ext cx="6635667" cy="677108"/>
          </a:xfrm>
        </p:spPr>
      </p:pic>
      <p:sp>
        <p:nvSpPr>
          <p:cNvPr id="14" name="Rectangle 4">
            <a:extLst>
              <a:ext uri="{FF2B5EF4-FFF2-40B4-BE49-F238E27FC236}">
                <a16:creationId xmlns:a16="http://schemas.microsoft.com/office/drawing/2014/main" id="{B09C063C-37EA-E0EA-74D0-F791454A4AE8}"/>
              </a:ext>
            </a:extLst>
          </p:cNvPr>
          <p:cNvSpPr>
            <a:spLocks noChangeArrowheads="1"/>
          </p:cNvSpPr>
          <p:nvPr/>
        </p:nvSpPr>
        <p:spPr bwMode="auto">
          <a:xfrm>
            <a:off x="467589" y="1390701"/>
            <a:ext cx="4246419"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j-lt"/>
              </a:rPr>
              <a:t>4. Loading the Dataset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8" name="Picture 17">
            <a:extLst>
              <a:ext uri="{FF2B5EF4-FFF2-40B4-BE49-F238E27FC236}">
                <a16:creationId xmlns:a16="http://schemas.microsoft.com/office/drawing/2014/main" id="{316E5BE8-84A8-CBBE-313F-E3BEE17878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89" y="1856201"/>
            <a:ext cx="6851073" cy="1393128"/>
          </a:xfrm>
          <a:prstGeom prst="rect">
            <a:avLst/>
          </a:prstGeom>
        </p:spPr>
      </p:pic>
      <p:sp>
        <p:nvSpPr>
          <p:cNvPr id="20" name="TextBox 19">
            <a:extLst>
              <a:ext uri="{FF2B5EF4-FFF2-40B4-BE49-F238E27FC236}">
                <a16:creationId xmlns:a16="http://schemas.microsoft.com/office/drawing/2014/main" id="{DAC15EBF-624B-78E0-FBAA-BF045ADA33A5}"/>
              </a:ext>
            </a:extLst>
          </p:cNvPr>
          <p:cNvSpPr txBox="1"/>
          <p:nvPr/>
        </p:nvSpPr>
        <p:spPr>
          <a:xfrm>
            <a:off x="499092" y="3282024"/>
            <a:ext cx="6123708" cy="400110"/>
          </a:xfrm>
          <a:prstGeom prst="rect">
            <a:avLst/>
          </a:prstGeom>
          <a:noFill/>
        </p:spPr>
        <p:txBody>
          <a:bodyPr wrap="square">
            <a:spAutoFit/>
          </a:bodyPr>
          <a:lstStyle/>
          <a:p>
            <a:r>
              <a:rPr lang="en-US" sz="2000" b="1" dirty="0">
                <a:solidFill>
                  <a:schemeClr val="accent3"/>
                </a:solidFill>
                <a:latin typeface="+mj-lt"/>
              </a:rPr>
              <a:t>5. Exploratory Data Analysis (EDA)</a:t>
            </a:r>
            <a:endParaRPr lang="en-IN" sz="2000" b="1" dirty="0">
              <a:solidFill>
                <a:schemeClr val="accent3"/>
              </a:solidFill>
              <a:latin typeface="+mj-lt"/>
            </a:endParaRPr>
          </a:p>
        </p:txBody>
      </p:sp>
      <p:pic>
        <p:nvPicPr>
          <p:cNvPr id="24" name="Picture 23">
            <a:extLst>
              <a:ext uri="{FF2B5EF4-FFF2-40B4-BE49-F238E27FC236}">
                <a16:creationId xmlns:a16="http://schemas.microsoft.com/office/drawing/2014/main" id="{BC311E7C-F119-75A5-741E-C02E4CF711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092" y="3713137"/>
            <a:ext cx="5818910" cy="2849535"/>
          </a:xfrm>
          <a:prstGeom prst="rect">
            <a:avLst/>
          </a:prstGeom>
        </p:spPr>
      </p:pic>
      <p:sp>
        <p:nvSpPr>
          <p:cNvPr id="5" name="TextBox 4">
            <a:extLst>
              <a:ext uri="{FF2B5EF4-FFF2-40B4-BE49-F238E27FC236}">
                <a16:creationId xmlns:a16="http://schemas.microsoft.com/office/drawing/2014/main" id="{751DD897-8AF7-1B07-6ECB-E21CDA3A772A}"/>
              </a:ext>
            </a:extLst>
          </p:cNvPr>
          <p:cNvSpPr txBox="1"/>
          <p:nvPr/>
        </p:nvSpPr>
        <p:spPr>
          <a:xfrm>
            <a:off x="7398325" y="1312326"/>
            <a:ext cx="6123708" cy="369332"/>
          </a:xfrm>
          <a:prstGeom prst="rect">
            <a:avLst/>
          </a:prstGeom>
          <a:noFill/>
        </p:spPr>
        <p:txBody>
          <a:bodyPr wrap="square">
            <a:spAutoFit/>
          </a:bodyPr>
          <a:lstStyle/>
          <a:p>
            <a:pPr marL="0" indent="0">
              <a:buNone/>
            </a:pPr>
            <a:r>
              <a:rPr lang="en-US" sz="1800" b="1" dirty="0">
                <a:solidFill>
                  <a:schemeClr val="accent3"/>
                </a:solidFill>
                <a:latin typeface="+mj-lt"/>
              </a:rPr>
              <a:t>6. Checking for Missing Values</a:t>
            </a:r>
          </a:p>
        </p:txBody>
      </p:sp>
      <p:pic>
        <p:nvPicPr>
          <p:cNvPr id="6" name="Picture 5">
            <a:extLst>
              <a:ext uri="{FF2B5EF4-FFF2-40B4-BE49-F238E27FC236}">
                <a16:creationId xmlns:a16="http://schemas.microsoft.com/office/drawing/2014/main" id="{A9746C3E-004D-C627-262C-F0DB34B02B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5465" y="1729255"/>
            <a:ext cx="3616717" cy="3616717"/>
          </a:xfrm>
          <a:prstGeom prst="rect">
            <a:avLst/>
          </a:prstGeom>
        </p:spPr>
      </p:pic>
    </p:spTree>
    <p:extLst>
      <p:ext uri="{BB962C8B-B14F-4D97-AF65-F5344CB8AC3E}">
        <p14:creationId xmlns:p14="http://schemas.microsoft.com/office/powerpoint/2010/main" val="91333990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3F1D92-89D8-EE83-08AF-E561953C1E65}"/>
              </a:ext>
            </a:extLst>
          </p:cNvPr>
          <p:cNvSpPr>
            <a:spLocks noGrp="1"/>
          </p:cNvSpPr>
          <p:nvPr>
            <p:ph type="title"/>
          </p:nvPr>
        </p:nvSpPr>
        <p:spPr>
          <a:xfrm flipV="1">
            <a:off x="1143000" y="200891"/>
            <a:ext cx="9906000" cy="332510"/>
          </a:xfrm>
        </p:spPr>
        <p:txBody>
          <a:bodyPr>
            <a:normAutofit fontScale="90000"/>
          </a:bodyPr>
          <a:lstStyle/>
          <a:p>
            <a:endParaRPr lang="en-IN" dirty="0"/>
          </a:p>
        </p:txBody>
      </p:sp>
      <p:sp>
        <p:nvSpPr>
          <p:cNvPr id="5" name="Content Placeholder 4">
            <a:extLst>
              <a:ext uri="{FF2B5EF4-FFF2-40B4-BE49-F238E27FC236}">
                <a16:creationId xmlns:a16="http://schemas.microsoft.com/office/drawing/2014/main" id="{E97405CB-2FA2-FAE6-2051-9DA03190EC5F}"/>
              </a:ext>
            </a:extLst>
          </p:cNvPr>
          <p:cNvSpPr>
            <a:spLocks noGrp="1"/>
          </p:cNvSpPr>
          <p:nvPr>
            <p:ph sz="half" idx="1"/>
          </p:nvPr>
        </p:nvSpPr>
        <p:spPr>
          <a:xfrm>
            <a:off x="235527" y="733002"/>
            <a:ext cx="5181600" cy="4252470"/>
          </a:xfrm>
        </p:spPr>
        <p:txBody>
          <a:bodyPr>
            <a:normAutofit/>
          </a:bodyPr>
          <a:lstStyle/>
          <a:p>
            <a:r>
              <a:rPr lang="en-IN" sz="2000" b="1" dirty="0">
                <a:solidFill>
                  <a:schemeClr val="accent3"/>
                </a:solidFill>
                <a:latin typeface="+mj-lt"/>
              </a:rPr>
              <a:t>7. Encoding Categorical Data</a:t>
            </a:r>
          </a:p>
        </p:txBody>
      </p:sp>
      <p:pic>
        <p:nvPicPr>
          <p:cNvPr id="10" name="Content Placeholder 9">
            <a:extLst>
              <a:ext uri="{FF2B5EF4-FFF2-40B4-BE49-F238E27FC236}">
                <a16:creationId xmlns:a16="http://schemas.microsoft.com/office/drawing/2014/main" id="{1B405F8D-2DF8-1FB1-3DC4-BA4D2A63AD5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93542" y="1135373"/>
            <a:ext cx="5654893" cy="5654893"/>
          </a:xfrm>
        </p:spPr>
      </p:pic>
      <p:sp>
        <p:nvSpPr>
          <p:cNvPr id="11" name="Rectangle 1">
            <a:extLst>
              <a:ext uri="{FF2B5EF4-FFF2-40B4-BE49-F238E27FC236}">
                <a16:creationId xmlns:a16="http://schemas.microsoft.com/office/drawing/2014/main" id="{C8AB2823-34C9-8FDE-EA2E-B97ACC5F3141}"/>
              </a:ext>
            </a:extLst>
          </p:cNvPr>
          <p:cNvSpPr>
            <a:spLocks noChangeArrowheads="1"/>
          </p:cNvSpPr>
          <p:nvPr/>
        </p:nvSpPr>
        <p:spPr bwMode="auto">
          <a:xfrm>
            <a:off x="5721927" y="796820"/>
            <a:ext cx="612294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j-lt"/>
              </a:rPr>
              <a:t>8. Splitting the Dataset into Training and Testing Sets</a:t>
            </a:r>
            <a:endParaRPr kumimoji="0" lang="en-US" altLang="en-US"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D9FB5719-2041-7366-F66E-445CCFD7B6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8342" y="1228509"/>
            <a:ext cx="6473658" cy="647790"/>
          </a:xfrm>
          <a:prstGeom prst="rect">
            <a:avLst/>
          </a:prstGeom>
        </p:spPr>
      </p:pic>
      <p:sp>
        <p:nvSpPr>
          <p:cNvPr id="15" name="TextBox 14">
            <a:extLst>
              <a:ext uri="{FF2B5EF4-FFF2-40B4-BE49-F238E27FC236}">
                <a16:creationId xmlns:a16="http://schemas.microsoft.com/office/drawing/2014/main" id="{BF17140A-2D0F-30E9-0198-143036670569}"/>
              </a:ext>
            </a:extLst>
          </p:cNvPr>
          <p:cNvSpPr txBox="1"/>
          <p:nvPr/>
        </p:nvSpPr>
        <p:spPr>
          <a:xfrm>
            <a:off x="5772826" y="2077644"/>
            <a:ext cx="6125632" cy="400110"/>
          </a:xfrm>
          <a:prstGeom prst="rect">
            <a:avLst/>
          </a:prstGeom>
          <a:noFill/>
        </p:spPr>
        <p:txBody>
          <a:bodyPr wrap="square">
            <a:spAutoFit/>
          </a:bodyPr>
          <a:lstStyle/>
          <a:p>
            <a:r>
              <a:rPr lang="en-IN" sz="2000" b="1" dirty="0">
                <a:solidFill>
                  <a:schemeClr val="accent3"/>
                </a:solidFill>
                <a:latin typeface="+mj-lt"/>
              </a:rPr>
              <a:t>9. Feature Scaling</a:t>
            </a:r>
          </a:p>
        </p:txBody>
      </p:sp>
      <p:pic>
        <p:nvPicPr>
          <p:cNvPr id="17" name="Picture 16">
            <a:extLst>
              <a:ext uri="{FF2B5EF4-FFF2-40B4-BE49-F238E27FC236}">
                <a16:creationId xmlns:a16="http://schemas.microsoft.com/office/drawing/2014/main" id="{73E6B1E9-640E-1A26-91A4-78407A28AF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7325" y="2583149"/>
            <a:ext cx="4412675" cy="1038370"/>
          </a:xfrm>
          <a:prstGeom prst="rect">
            <a:avLst/>
          </a:prstGeom>
        </p:spPr>
      </p:pic>
      <p:sp>
        <p:nvSpPr>
          <p:cNvPr id="19" name="TextBox 18">
            <a:extLst>
              <a:ext uri="{FF2B5EF4-FFF2-40B4-BE49-F238E27FC236}">
                <a16:creationId xmlns:a16="http://schemas.microsoft.com/office/drawing/2014/main" id="{9DB82C38-038D-0C9D-ED2D-A7B3A71D8A65}"/>
              </a:ext>
            </a:extLst>
          </p:cNvPr>
          <p:cNvSpPr txBox="1"/>
          <p:nvPr/>
        </p:nvSpPr>
        <p:spPr>
          <a:xfrm>
            <a:off x="5747325" y="3750664"/>
            <a:ext cx="6242050" cy="400110"/>
          </a:xfrm>
          <a:prstGeom prst="rect">
            <a:avLst/>
          </a:prstGeom>
          <a:noFill/>
        </p:spPr>
        <p:txBody>
          <a:bodyPr wrap="square">
            <a:spAutoFit/>
          </a:bodyPr>
          <a:lstStyle/>
          <a:p>
            <a:r>
              <a:rPr lang="en-US" sz="2000" b="1" dirty="0">
                <a:solidFill>
                  <a:schemeClr val="accent3"/>
                </a:solidFill>
                <a:latin typeface="+mj-lt"/>
              </a:rPr>
              <a:t>10. Building a Neural Network Model</a:t>
            </a:r>
            <a:endParaRPr lang="en-IN" sz="2000" b="1" dirty="0">
              <a:solidFill>
                <a:schemeClr val="accent3"/>
              </a:solidFill>
              <a:latin typeface="+mj-lt"/>
            </a:endParaRPr>
          </a:p>
        </p:txBody>
      </p:sp>
      <p:pic>
        <p:nvPicPr>
          <p:cNvPr id="23" name="Picture 22">
            <a:extLst>
              <a:ext uri="{FF2B5EF4-FFF2-40B4-BE49-F238E27FC236}">
                <a16:creationId xmlns:a16="http://schemas.microsoft.com/office/drawing/2014/main" id="{B547AE97-D9DE-C887-52E4-B790F14B2A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72826" y="4150774"/>
            <a:ext cx="5811061" cy="2639492"/>
          </a:xfrm>
          <a:prstGeom prst="rect">
            <a:avLst/>
          </a:prstGeom>
        </p:spPr>
      </p:pic>
    </p:spTree>
    <p:extLst>
      <p:ext uri="{BB962C8B-B14F-4D97-AF65-F5344CB8AC3E}">
        <p14:creationId xmlns:p14="http://schemas.microsoft.com/office/powerpoint/2010/main" val="293190018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flipV="1">
            <a:off x="838200" y="0"/>
            <a:ext cx="10330405" cy="365125"/>
          </a:xfrm>
          <a:noFill/>
        </p:spPr>
        <p:txBody>
          <a:bodyPr>
            <a:noAutofit/>
          </a:bodyPr>
          <a:lstStyle/>
          <a:p>
            <a:endParaRPr lang="en-US" dirty="0"/>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half" idx="1"/>
          </p:nvPr>
        </p:nvSpPr>
        <p:spPr>
          <a:xfrm>
            <a:off x="519521" y="422488"/>
            <a:ext cx="4309533" cy="1075267"/>
          </a:xfrm>
          <a:solidFill>
            <a:schemeClr val="bg1"/>
          </a:solidFill>
        </p:spPr>
        <p:txBody>
          <a:bodyPr vert="horz" lIns="91440" tIns="45720" rIns="91440" bIns="45720" rtlCol="0" anchor="t">
            <a:normAutofit/>
          </a:bodyPr>
          <a:lstStyle/>
          <a:p>
            <a:r>
              <a:rPr lang="en-US" sz="2000" b="1" dirty="0">
                <a:solidFill>
                  <a:schemeClr val="accent3"/>
                </a:solidFill>
                <a:latin typeface="+mj-lt"/>
              </a:rPr>
              <a:t>11. Compiling and Training the Model</a:t>
            </a:r>
          </a:p>
        </p:txBody>
      </p:sp>
      <p:pic>
        <p:nvPicPr>
          <p:cNvPr id="7" name="Picture 6">
            <a:extLst>
              <a:ext uri="{FF2B5EF4-FFF2-40B4-BE49-F238E27FC236}">
                <a16:creationId xmlns:a16="http://schemas.microsoft.com/office/drawing/2014/main" id="{A8F0575A-7B85-A1A8-6F92-9F7DA1590F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521" y="866988"/>
            <a:ext cx="5745812" cy="5808352"/>
          </a:xfrm>
          <a:prstGeom prst="rect">
            <a:avLst/>
          </a:prstGeom>
        </p:spPr>
      </p:pic>
      <p:sp>
        <p:nvSpPr>
          <p:cNvPr id="10" name="TextBox 9">
            <a:extLst>
              <a:ext uri="{FF2B5EF4-FFF2-40B4-BE49-F238E27FC236}">
                <a16:creationId xmlns:a16="http://schemas.microsoft.com/office/drawing/2014/main" id="{ADF09258-41F6-E9F7-794B-B9ED7C70FF8F}"/>
              </a:ext>
            </a:extLst>
          </p:cNvPr>
          <p:cNvSpPr txBox="1"/>
          <p:nvPr/>
        </p:nvSpPr>
        <p:spPr>
          <a:xfrm>
            <a:off x="5967418" y="1285093"/>
            <a:ext cx="6125632" cy="400110"/>
          </a:xfrm>
          <a:prstGeom prst="rect">
            <a:avLst/>
          </a:prstGeom>
          <a:noFill/>
        </p:spPr>
        <p:txBody>
          <a:bodyPr wrap="square">
            <a:spAutoFit/>
          </a:bodyPr>
          <a:lstStyle/>
          <a:p>
            <a:r>
              <a:rPr lang="en-IN" sz="2000" b="1" dirty="0">
                <a:solidFill>
                  <a:schemeClr val="accent3"/>
                </a:solidFill>
                <a:latin typeface="+mj-lt"/>
              </a:rPr>
              <a:t>12. Evaluating the Model</a:t>
            </a:r>
          </a:p>
        </p:txBody>
      </p:sp>
      <p:pic>
        <p:nvPicPr>
          <p:cNvPr id="12" name="Picture 11">
            <a:extLst>
              <a:ext uri="{FF2B5EF4-FFF2-40B4-BE49-F238E27FC236}">
                <a16:creationId xmlns:a16="http://schemas.microsoft.com/office/drawing/2014/main" id="{80876E5B-F238-A1C8-B35B-91C85F97EF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7104" y="1685203"/>
            <a:ext cx="6456375" cy="5172797"/>
          </a:xfrm>
          <a:prstGeom prst="rect">
            <a:avLst/>
          </a:prstGeom>
        </p:spPr>
      </p:pic>
    </p:spTree>
    <p:extLst>
      <p:ext uri="{BB962C8B-B14F-4D97-AF65-F5344CB8AC3E}">
        <p14:creationId xmlns:p14="http://schemas.microsoft.com/office/powerpoint/2010/main" val="412442719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A66B43-2D0D-F4A6-B8F0-D0B4E3659154}"/>
              </a:ext>
            </a:extLst>
          </p:cNvPr>
          <p:cNvPicPr>
            <a:picLocks noChangeAspect="1"/>
          </p:cNvPicPr>
          <p:nvPr/>
        </p:nvPicPr>
        <p:blipFill>
          <a:blip r:embed="rId2"/>
          <a:stretch>
            <a:fillRect/>
          </a:stretch>
        </p:blipFill>
        <p:spPr>
          <a:xfrm>
            <a:off x="5826016" y="0"/>
            <a:ext cx="4816994" cy="3429000"/>
          </a:xfrm>
          <a:prstGeom prst="rect">
            <a:avLst/>
          </a:prstGeom>
        </p:spPr>
      </p:pic>
      <p:sp>
        <p:nvSpPr>
          <p:cNvPr id="7" name="TextBox 6">
            <a:extLst>
              <a:ext uri="{FF2B5EF4-FFF2-40B4-BE49-F238E27FC236}">
                <a16:creationId xmlns:a16="http://schemas.microsoft.com/office/drawing/2014/main" id="{570A88CF-0FF9-02A6-09D9-9D7CDF3B91BA}"/>
              </a:ext>
            </a:extLst>
          </p:cNvPr>
          <p:cNvSpPr txBox="1"/>
          <p:nvPr/>
        </p:nvSpPr>
        <p:spPr>
          <a:xfrm>
            <a:off x="603250" y="170935"/>
            <a:ext cx="6125632" cy="400110"/>
          </a:xfrm>
          <a:prstGeom prst="rect">
            <a:avLst/>
          </a:prstGeom>
          <a:noFill/>
        </p:spPr>
        <p:txBody>
          <a:bodyPr wrap="square">
            <a:spAutoFit/>
          </a:bodyPr>
          <a:lstStyle/>
          <a:p>
            <a:r>
              <a:rPr lang="en-IN" sz="2000" b="1" dirty="0">
                <a:solidFill>
                  <a:schemeClr val="accent3"/>
                </a:solidFill>
                <a:latin typeface="+mj-lt"/>
              </a:rPr>
              <a:t>13. Visualizing Results</a:t>
            </a:r>
          </a:p>
        </p:txBody>
      </p:sp>
      <p:pic>
        <p:nvPicPr>
          <p:cNvPr id="9" name="Picture 8">
            <a:extLst>
              <a:ext uri="{FF2B5EF4-FFF2-40B4-BE49-F238E27FC236}">
                <a16:creationId xmlns:a16="http://schemas.microsoft.com/office/drawing/2014/main" id="{DE99450D-1AF0-9BA7-C449-CE86E3D4DA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233" y="1283017"/>
            <a:ext cx="4353533" cy="3038899"/>
          </a:xfrm>
          <a:prstGeom prst="rect">
            <a:avLst/>
          </a:prstGeom>
        </p:spPr>
      </p:pic>
      <p:pic>
        <p:nvPicPr>
          <p:cNvPr id="13" name="Picture 12">
            <a:extLst>
              <a:ext uri="{FF2B5EF4-FFF2-40B4-BE49-F238E27FC236}">
                <a16:creationId xmlns:a16="http://schemas.microsoft.com/office/drawing/2014/main" id="{224676E8-AC51-7C6E-CF90-A4219276FADB}"/>
              </a:ext>
            </a:extLst>
          </p:cNvPr>
          <p:cNvPicPr>
            <a:picLocks noChangeAspect="1"/>
          </p:cNvPicPr>
          <p:nvPr/>
        </p:nvPicPr>
        <p:blipFill>
          <a:blip r:embed="rId4"/>
          <a:stretch>
            <a:fillRect/>
          </a:stretch>
        </p:blipFill>
        <p:spPr>
          <a:xfrm>
            <a:off x="6096000" y="3349356"/>
            <a:ext cx="4472609" cy="3429000"/>
          </a:xfrm>
          <a:prstGeom prst="rect">
            <a:avLst/>
          </a:prstGeom>
        </p:spPr>
      </p:pic>
    </p:spTree>
    <p:extLst>
      <p:ext uri="{BB962C8B-B14F-4D97-AF65-F5344CB8AC3E}">
        <p14:creationId xmlns:p14="http://schemas.microsoft.com/office/powerpoint/2010/main" val="3000356488"/>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E335D-3F79-4564-E3C7-882266F8F55B}"/>
              </a:ext>
            </a:extLst>
          </p:cNvPr>
          <p:cNvSpPr>
            <a:spLocks noGrp="1"/>
          </p:cNvSpPr>
          <p:nvPr>
            <p:ph type="ctrTitle"/>
          </p:nvPr>
        </p:nvSpPr>
        <p:spPr>
          <a:xfrm>
            <a:off x="857468" y="486138"/>
            <a:ext cx="5427584" cy="1105596"/>
          </a:xfrm>
        </p:spPr>
        <p:txBody>
          <a:bodyPr/>
          <a:lstStyle/>
          <a:p>
            <a:pPr algn="ctr"/>
            <a:r>
              <a:rPr lang="en-IN" dirty="0"/>
              <a:t>Conclusion</a:t>
            </a:r>
          </a:p>
        </p:txBody>
      </p:sp>
      <p:sp>
        <p:nvSpPr>
          <p:cNvPr id="10" name="Picture Placeholder 9">
            <a:extLst>
              <a:ext uri="{FF2B5EF4-FFF2-40B4-BE49-F238E27FC236}">
                <a16:creationId xmlns:a16="http://schemas.microsoft.com/office/drawing/2014/main" id="{D3EEA80F-D5E9-0FF5-8252-7839487F51C9}"/>
              </a:ext>
            </a:extLst>
          </p:cNvPr>
          <p:cNvSpPr>
            <a:spLocks noGrp="1"/>
          </p:cNvSpPr>
          <p:nvPr>
            <p:ph type="pic" sz="quarter" idx="10"/>
          </p:nvPr>
        </p:nvSpPr>
        <p:spPr/>
      </p:sp>
      <p:sp>
        <p:nvSpPr>
          <p:cNvPr id="3" name="Subtitle 2">
            <a:extLst>
              <a:ext uri="{FF2B5EF4-FFF2-40B4-BE49-F238E27FC236}">
                <a16:creationId xmlns:a16="http://schemas.microsoft.com/office/drawing/2014/main" id="{331BFB3A-2E6C-6AFC-C99B-16F77EB8BE22}"/>
              </a:ext>
            </a:extLst>
          </p:cNvPr>
          <p:cNvSpPr>
            <a:spLocks noGrp="1"/>
          </p:cNvSpPr>
          <p:nvPr>
            <p:ph type="subTitle" idx="4294967295"/>
          </p:nvPr>
        </p:nvSpPr>
        <p:spPr>
          <a:xfrm>
            <a:off x="1786466" y="1676400"/>
            <a:ext cx="8068733" cy="4343401"/>
          </a:xfrm>
        </p:spPr>
        <p:txBody>
          <a:bodyPr>
            <a:normAutofit/>
          </a:bodyPr>
          <a:lstStyle/>
          <a:p>
            <a:r>
              <a:rPr lang="en-US" sz="2000" cap="none" dirty="0"/>
              <a:t>This project is building a </a:t>
            </a:r>
            <a:r>
              <a:rPr lang="en-US" sz="2000" b="1" cap="none" dirty="0"/>
              <a:t>binary classification model</a:t>
            </a:r>
            <a:r>
              <a:rPr lang="en-US" sz="2000" cap="none" dirty="0"/>
              <a:t> using an </a:t>
            </a:r>
            <a:r>
              <a:rPr lang="en-US" sz="2000" b="1" cap="none" dirty="0"/>
              <a:t>artificial neural network</a:t>
            </a:r>
            <a:r>
              <a:rPr lang="en-US" sz="2000" cap="none" dirty="0"/>
              <a:t> to predict customer churn in </a:t>
            </a:r>
            <a:r>
              <a:rPr lang="en-US" sz="2000" cap="none" dirty="0" err="1"/>
              <a:t>american</a:t>
            </a:r>
            <a:r>
              <a:rPr lang="en-US" sz="2000" cap="none" dirty="0"/>
              <a:t> express users. It includes:</a:t>
            </a:r>
          </a:p>
          <a:p>
            <a:pPr>
              <a:buFont typeface="Arial" panose="020B0604020202020204" pitchFamily="34" charset="0"/>
              <a:buChar char="•"/>
            </a:pPr>
            <a:r>
              <a:rPr lang="en-US" sz="2000" cap="none" dirty="0"/>
              <a:t>Data preprocessing (handling missing values, encoding, scaling).</a:t>
            </a:r>
          </a:p>
          <a:p>
            <a:pPr>
              <a:buFont typeface="Arial" panose="020B0604020202020204" pitchFamily="34" charset="0"/>
              <a:buChar char="•"/>
            </a:pPr>
            <a:r>
              <a:rPr lang="en-US" sz="2000" cap="none" dirty="0"/>
              <a:t>Splitting data into training/testing sets.</a:t>
            </a:r>
          </a:p>
          <a:p>
            <a:pPr>
              <a:buFont typeface="Arial" panose="020B0604020202020204" pitchFamily="34" charset="0"/>
              <a:buChar char="•"/>
            </a:pPr>
            <a:r>
              <a:rPr lang="en-US" sz="2000" cap="none" dirty="0"/>
              <a:t>Defining and training a neural network.</a:t>
            </a:r>
          </a:p>
          <a:p>
            <a:pPr>
              <a:buFont typeface="Arial" panose="020B0604020202020204" pitchFamily="34" charset="0"/>
              <a:buChar char="•"/>
            </a:pPr>
            <a:r>
              <a:rPr lang="en-US" sz="2000" cap="none" dirty="0"/>
              <a:t>Evaluating model performance.</a:t>
            </a:r>
          </a:p>
          <a:p>
            <a:endParaRPr lang="en-IN" dirty="0"/>
          </a:p>
        </p:txBody>
      </p:sp>
    </p:spTree>
    <p:extLst>
      <p:ext uri="{BB962C8B-B14F-4D97-AF65-F5344CB8AC3E}">
        <p14:creationId xmlns:p14="http://schemas.microsoft.com/office/powerpoint/2010/main" val="261143923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Placeholder 5">
            <a:extLst>
              <a:ext uri="{FF2B5EF4-FFF2-40B4-BE49-F238E27FC236}">
                <a16:creationId xmlns:a16="http://schemas.microsoft.com/office/drawing/2014/main" id="{E461669C-A7BA-D639-22CB-B5FBBE698B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4599" r="24599"/>
          <a:stretch/>
        </p:blipFill>
        <p:spPr>
          <a:noFill/>
        </p:spPr>
      </p:pic>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noFill/>
        </p:spPr>
        <p:txBody>
          <a:bodyPr anchor="b"/>
          <a:lstStyle/>
          <a:p>
            <a:r>
              <a:rPr lang="en-US" dirty="0"/>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noFill/>
        </p:spPr>
        <p:txBody>
          <a:bodyPr anchor="t">
            <a:normAutofit/>
          </a:bodyPr>
          <a:lstStyle/>
          <a:p>
            <a:r>
              <a:rPr lang="en-US" dirty="0"/>
              <a:t>Chawhan Bhoomika</a:t>
            </a:r>
          </a:p>
        </p:txBody>
      </p:sp>
    </p:spTree>
    <p:extLst>
      <p:ext uri="{BB962C8B-B14F-4D97-AF65-F5344CB8AC3E}">
        <p14:creationId xmlns:p14="http://schemas.microsoft.com/office/powerpoint/2010/main" val="121080219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20BE78-9FDF-401B-B412-3AA10EC5BE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0E62E91-3991-445A-ADE0-DB143B39320F}">
  <ds:schemaRefs>
    <ds:schemaRef ds:uri="http://schemas.microsoft.com/sharepoint/v3/contenttype/forms"/>
  </ds:schemaRefs>
</ds:datastoreItem>
</file>

<file path=customXml/itemProps3.xml><?xml version="1.0" encoding="utf-8"?>
<ds:datastoreItem xmlns:ds="http://schemas.openxmlformats.org/officeDocument/2006/customXml" ds:itemID="{1C180A77-4928-484F-9529-F716C85D6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Angle lines design</Template>
  <TotalTime>1207</TotalTime>
  <Words>637</Words>
  <Application>Microsoft Office PowerPoint</Application>
  <PresentationFormat>Widescreen</PresentationFormat>
  <Paragraphs>79</Paragraphs>
  <Slides>14</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Aptos</vt:lpstr>
      <vt:lpstr>Arial</vt:lpstr>
      <vt:lpstr>Arial Unicode MS</vt:lpstr>
      <vt:lpstr>Calibri</vt:lpstr>
      <vt:lpstr>Courier New</vt:lpstr>
      <vt:lpstr>Symbol</vt:lpstr>
      <vt:lpstr>Univers Condensed Light</vt:lpstr>
      <vt:lpstr>Walbaum Display Light</vt:lpstr>
      <vt:lpstr>AngleLinesVTI</vt:lpstr>
      <vt:lpstr>Major project  Name: Chawhan Bhoomika   College: Saanvi degree college for women   Course: BCA   Roll no: 2096 2286 1012</vt:lpstr>
      <vt:lpstr>AGENDA</vt:lpstr>
      <vt:lpstr>Introduction   This project aims to develop a predictive model using artificial neural networks (ANN) to identify customers who are likely to churn (exit) from american express services. By leveraging machine learning techniques, the goal is to analyze customer behavior, identify key factors influencing churn, and provide insights that can help retain customers.</vt:lpstr>
      <vt:lpstr>Business problem:</vt:lpstr>
      <vt:lpstr>Dataset Description</vt:lpstr>
      <vt:lpstr>Methodology:</vt:lpstr>
      <vt:lpstr>Expected Outcome: </vt:lpstr>
      <vt:lpstr>Code implementation</vt:lpstr>
      <vt:lpstr>PowerPoint Presentation</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SNEHA BHOOMIKA</dc:creator>
  <cp:lastModifiedBy>SNEHA BHOOMIKA</cp:lastModifiedBy>
  <cp:revision>11</cp:revision>
  <dcterms:created xsi:type="dcterms:W3CDTF">2025-03-06T15:51:32Z</dcterms:created>
  <dcterms:modified xsi:type="dcterms:W3CDTF">2025-03-09T16:41:54Z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